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1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790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APRESENTAÇÃO: Pessoa 1
TEMPO SUGERIDO: 25–35 s
ROTEIRO:
Apresente a UC7 e deixe claro que o Operação Pente Fino é o projeto aplicado usado para demonstrar o desenvolvimento de Front-End. Cite rapidamente HTML, CSS, JavaScript, responsividade e interatividade.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APRESENTAÇÃO: Pessoa 1
TEMPO SUGERIDO: 45–55 s
ROTEIRO:
Explique o objetivo técnico da entrega: transformar uma ideia em uma interface organizada, responsiva e interativa. Depois apresente a solução aplicada: o site possui três áreas, mas mantém a mesma identidade e navegação.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APRESENTAÇÃO: Pessoa 2
TEMPO SUGERIDO: 60–70 s
ROTEIRO:
Apresente os três pilares do Front-End. No HTML, cite estrutura semântica e navegação. No CSS, responsividade e componentes. No JavaScript, eventos, DOM, pontuação, timers e armazenamento local. Mostre que cada tecnologia tem uma função clara no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APRESENTAÇÃO: Pessoa 3
TEMPO SUGERIDO: 55–65 s
ROTEIRO:
Mostre que o projeto não foi pensado apenas para desktop. Destaque o menu mobile, a adaptação dos elementos e os recursos de acessibilidade. O objetivo aqui é mostrar cuidado com a experiência do usuário, não apenas estética.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APRESENTAÇÃO: Pessoa 4
TEMPO SUGERIDO: 60–75 s
ROTEIRO:
Use o jogo Caça ao Piolho como exemplo prático de JavaScript: clique, evento, atualização da interface, cronômetro, pontuação e recorde. Mostre o trecho de código apenas para explicar a lógica, sem ler linha por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APRESENTAÇÃO: Pessoa 4
TEMPO SUGERIDO: 35–45 s
ROTEIRO:
Feche retomando o que foi consolidado na UC7: estrutura, interface, interação e experiência. Em seguida, faça a demonstração ao vivo do site. Não precisa explicar tudo de novo; mostre os pontos principais rapidamente.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3.png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28.svg"/><Relationship Id="rId5" Type="http://schemas.openxmlformats.org/officeDocument/2006/relationships/image" Target="../media/image23.svg"/><Relationship Id="rId10" Type="http://schemas.openxmlformats.org/officeDocument/2006/relationships/image" Target="../media/image27.svg"/><Relationship Id="rId4" Type="http://schemas.openxmlformats.org/officeDocument/2006/relationships/image" Target="../media/image22.sv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esenvolvedorcb.com.br/" TargetMode="External"/><Relationship Id="rId3" Type="http://schemas.openxmlformats.org/officeDocument/2006/relationships/image" Target="../media/image29.sv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D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D57"/>
          </a:solidFill>
          <a:ln w="12700">
            <a:solidFill>
              <a:srgbClr val="052D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675120" y="411480"/>
            <a:ext cx="0" cy="5257800"/>
          </a:xfrm>
          <a:prstGeom prst="line">
            <a:avLst/>
          </a:prstGeom>
          <a:noFill/>
          <a:ln w="8890">
            <a:solidFill>
              <a:srgbClr val="174F7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242048" y="411480"/>
            <a:ext cx="0" cy="5257800"/>
          </a:xfrm>
          <a:prstGeom prst="line">
            <a:avLst/>
          </a:prstGeom>
          <a:noFill/>
          <a:ln w="8890">
            <a:solidFill>
              <a:srgbClr val="174F7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808976" y="411480"/>
            <a:ext cx="0" cy="5257800"/>
          </a:xfrm>
          <a:prstGeom prst="line">
            <a:avLst/>
          </a:prstGeom>
          <a:noFill/>
          <a:ln w="8890">
            <a:solidFill>
              <a:srgbClr val="174F7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375904" y="411480"/>
            <a:ext cx="0" cy="5257800"/>
          </a:xfrm>
          <a:prstGeom prst="line">
            <a:avLst/>
          </a:prstGeom>
          <a:noFill/>
          <a:ln w="8890">
            <a:solidFill>
              <a:srgbClr val="174F7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942832" y="411480"/>
            <a:ext cx="0" cy="5257800"/>
          </a:xfrm>
          <a:prstGeom prst="line">
            <a:avLst/>
          </a:prstGeom>
          <a:noFill/>
          <a:ln w="8890">
            <a:solidFill>
              <a:srgbClr val="174F7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509760" y="411480"/>
            <a:ext cx="0" cy="5257800"/>
          </a:xfrm>
          <a:prstGeom prst="line">
            <a:avLst/>
          </a:prstGeom>
          <a:noFill/>
          <a:ln w="8890">
            <a:solidFill>
              <a:srgbClr val="174F7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0076688" y="411480"/>
            <a:ext cx="0" cy="5257800"/>
          </a:xfrm>
          <a:prstGeom prst="line">
            <a:avLst/>
          </a:prstGeom>
          <a:noFill/>
          <a:ln w="8890">
            <a:solidFill>
              <a:srgbClr val="174F7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643616" y="411480"/>
            <a:ext cx="0" cy="5257800"/>
          </a:xfrm>
          <a:prstGeom prst="line">
            <a:avLst/>
          </a:prstGeom>
          <a:noFill/>
          <a:ln w="8890">
            <a:solidFill>
              <a:srgbClr val="174F7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400800" y="685800"/>
            <a:ext cx="5257800" cy="0"/>
          </a:xfrm>
          <a:prstGeom prst="line">
            <a:avLst/>
          </a:prstGeom>
          <a:noFill/>
          <a:ln w="8890">
            <a:solidFill>
              <a:srgbClr val="174F7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00800" y="1252728"/>
            <a:ext cx="5257800" cy="0"/>
          </a:xfrm>
          <a:prstGeom prst="line">
            <a:avLst/>
          </a:prstGeom>
          <a:noFill/>
          <a:ln w="8890">
            <a:solidFill>
              <a:srgbClr val="174F7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0" y="1819656"/>
            <a:ext cx="5257800" cy="0"/>
          </a:xfrm>
          <a:prstGeom prst="line">
            <a:avLst/>
          </a:prstGeom>
          <a:noFill/>
          <a:ln w="8890">
            <a:solidFill>
              <a:srgbClr val="174F7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400800" y="2386584"/>
            <a:ext cx="5257800" cy="0"/>
          </a:xfrm>
          <a:prstGeom prst="line">
            <a:avLst/>
          </a:prstGeom>
          <a:noFill/>
          <a:ln w="8890">
            <a:solidFill>
              <a:srgbClr val="174F7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00800" y="2953512"/>
            <a:ext cx="5257800" cy="0"/>
          </a:xfrm>
          <a:prstGeom prst="line">
            <a:avLst/>
          </a:prstGeom>
          <a:noFill/>
          <a:ln w="8890">
            <a:solidFill>
              <a:srgbClr val="174F7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400800" y="3520440"/>
            <a:ext cx="5257800" cy="0"/>
          </a:xfrm>
          <a:prstGeom prst="line">
            <a:avLst/>
          </a:prstGeom>
          <a:noFill/>
          <a:ln w="8890">
            <a:solidFill>
              <a:srgbClr val="174F7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00800" y="4087368"/>
            <a:ext cx="5257800" cy="0"/>
          </a:xfrm>
          <a:prstGeom prst="line">
            <a:avLst/>
          </a:prstGeom>
          <a:noFill/>
          <a:ln w="8890">
            <a:solidFill>
              <a:srgbClr val="174F7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00800" y="4654296"/>
            <a:ext cx="5257800" cy="0"/>
          </a:xfrm>
          <a:prstGeom prst="line">
            <a:avLst/>
          </a:prstGeom>
          <a:noFill/>
          <a:ln w="8890">
            <a:solidFill>
              <a:srgbClr val="174F7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480560" y="4678998"/>
            <a:ext cx="2331720" cy="2331720"/>
          </a:xfrm>
          <a:prstGeom prst="ellipse">
            <a:avLst/>
          </a:prstGeom>
          <a:solidFill>
            <a:srgbClr val="22C7E8">
              <a:alpha val="8000"/>
            </a:srgbClr>
          </a:solidFill>
          <a:ln w="15240">
            <a:solidFill>
              <a:srgbClr val="22C7E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Shape 18"/>
          <p:cNvSpPr/>
          <p:nvPr/>
        </p:nvSpPr>
        <p:spPr>
          <a:xfrm>
            <a:off x="6903720" y="4315968"/>
            <a:ext cx="4251960" cy="2011680"/>
          </a:xfrm>
          <a:prstGeom prst="ellipse">
            <a:avLst/>
          </a:prstGeom>
          <a:solidFill>
            <a:srgbClr val="0F79D0">
              <a:alpha val="8000"/>
            </a:srgbClr>
          </a:solidFill>
          <a:ln w="12700">
            <a:solidFill>
              <a:srgbClr val="0F79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1097280" y="594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15" dirty="0">
                <a:solidFill>
                  <a:srgbClr val="BAD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FINAL • UC7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6656" y="138988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22C7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DESENVOLVIMENTO WEB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76656" y="1847088"/>
            <a:ext cx="502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FRONT-END</a:t>
            </a:r>
            <a:endParaRPr lang="en-US" sz="4700" dirty="0"/>
          </a:p>
        </p:txBody>
      </p:sp>
      <p:sp>
        <p:nvSpPr>
          <p:cNvPr id="25" name="Text 22"/>
          <p:cNvSpPr/>
          <p:nvPr/>
        </p:nvSpPr>
        <p:spPr>
          <a:xfrm>
            <a:off x="694944" y="2724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91B3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aplicado: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94944" y="303580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Operação Pente Fino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694944" y="3685032"/>
            <a:ext cx="5230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• CSS • JavaScript • Responsividade • Interatividade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694944" y="4297680"/>
            <a:ext cx="822960" cy="310896"/>
          </a:xfrm>
          <a:prstGeom prst="roundRect">
            <a:avLst>
              <a:gd name="adj" fmla="val 47059"/>
            </a:avLst>
          </a:prstGeom>
          <a:solidFill>
            <a:srgbClr val="0A4A7F"/>
          </a:solidFill>
          <a:ln w="10160">
            <a:solidFill>
              <a:srgbClr val="2D6E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768096" y="4306824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HTML5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1664208" y="4297680"/>
            <a:ext cx="768096" cy="310896"/>
          </a:xfrm>
          <a:prstGeom prst="roundRect">
            <a:avLst>
              <a:gd name="adj" fmla="val 47059"/>
            </a:avLst>
          </a:prstGeom>
          <a:solidFill>
            <a:srgbClr val="0A4A7F"/>
          </a:solidFill>
          <a:ln w="10160">
            <a:solidFill>
              <a:srgbClr val="2D6E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1737360" y="43068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CSS3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2578608" y="4297680"/>
            <a:ext cx="1170432" cy="310896"/>
          </a:xfrm>
          <a:prstGeom prst="roundRect">
            <a:avLst>
              <a:gd name="adj" fmla="val 47059"/>
            </a:avLst>
          </a:prstGeom>
          <a:solidFill>
            <a:srgbClr val="5F4700"/>
          </a:solidFill>
          <a:ln w="10160">
            <a:solidFill>
              <a:srgbClr val="7D62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2651760" y="43068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30" dirty="0">
                <a:solidFill>
                  <a:srgbClr val="FFD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3895344" y="4297680"/>
            <a:ext cx="1344168" cy="310896"/>
          </a:xfrm>
          <a:prstGeom prst="roundRect">
            <a:avLst>
              <a:gd name="adj" fmla="val 47059"/>
            </a:avLst>
          </a:prstGeom>
          <a:solidFill>
            <a:srgbClr val="0B5732"/>
          </a:solidFill>
          <a:ln w="10160">
            <a:solidFill>
              <a:srgbClr val="2A77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3968496" y="430682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30" dirty="0">
                <a:solidFill>
                  <a:srgbClr val="87E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ACESSIBILIDADE</a:t>
            </a:r>
            <a:endParaRPr lang="en-US" sz="920" dirty="0"/>
          </a:p>
        </p:txBody>
      </p:sp>
      <p:sp>
        <p:nvSpPr>
          <p:cNvPr id="36" name="Text 33"/>
          <p:cNvSpPr/>
          <p:nvPr/>
        </p:nvSpPr>
        <p:spPr>
          <a:xfrm>
            <a:off x="694943" y="5084064"/>
            <a:ext cx="2662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Equipe:  Carlos , Dayane, Mateus e Leonardo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94944" y="5413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A9C2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SENAC • Corumbá–MS</a:t>
            </a:r>
            <a:endParaRPr lang="en-US" sz="1180" dirty="0"/>
          </a:p>
        </p:txBody>
      </p:sp>
      <p:sp>
        <p:nvSpPr>
          <p:cNvPr id="38" name="Shape 35"/>
          <p:cNvSpPr/>
          <p:nvPr/>
        </p:nvSpPr>
        <p:spPr>
          <a:xfrm>
            <a:off x="6281928" y="621792"/>
            <a:ext cx="5285232" cy="5623560"/>
          </a:xfrm>
          <a:prstGeom prst="roundRect">
            <a:avLst>
              <a:gd name="adj" fmla="val 4498"/>
            </a:avLst>
          </a:prstGeom>
          <a:solidFill>
            <a:srgbClr val="F5FBFE"/>
          </a:solidFill>
          <a:ln w="15240">
            <a:solidFill>
              <a:srgbClr val="C9E7F4"/>
            </a:solidFill>
            <a:prstDash val="solid"/>
          </a:ln>
          <a:effectLst>
            <a:outerShdw blurRad="50800" dist="508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6510528" y="886968"/>
            <a:ext cx="4828032" cy="4133088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7"/>
          <p:cNvSpPr/>
          <p:nvPr/>
        </p:nvSpPr>
        <p:spPr>
          <a:xfrm>
            <a:off x="6510528" y="886968"/>
            <a:ext cx="4828032" cy="384048"/>
          </a:xfrm>
          <a:prstGeom prst="rect">
            <a:avLst/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8"/>
          <p:cNvSpPr/>
          <p:nvPr/>
        </p:nvSpPr>
        <p:spPr>
          <a:xfrm>
            <a:off x="6684264" y="1005840"/>
            <a:ext cx="91440" cy="91440"/>
          </a:xfrm>
          <a:prstGeom prst="ellipse">
            <a:avLst/>
          </a:prstGeom>
          <a:solidFill>
            <a:srgbClr val="E64F4F"/>
          </a:solidFill>
          <a:ln w="12700">
            <a:solidFill>
              <a:srgbClr val="E64F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9"/>
          <p:cNvSpPr/>
          <p:nvPr/>
        </p:nvSpPr>
        <p:spPr>
          <a:xfrm>
            <a:off x="6903720" y="1005840"/>
            <a:ext cx="91440" cy="91440"/>
          </a:xfrm>
          <a:prstGeom prst="ellipse">
            <a:avLst/>
          </a:prstGeom>
          <a:solidFill>
            <a:srgbClr val="F1B53D"/>
          </a:solidFill>
          <a:ln w="12700">
            <a:solidFill>
              <a:srgbClr val="F1B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0"/>
          <p:cNvSpPr/>
          <p:nvPr/>
        </p:nvSpPr>
        <p:spPr>
          <a:xfrm>
            <a:off x="7123176" y="1005840"/>
            <a:ext cx="91440" cy="91440"/>
          </a:xfrm>
          <a:prstGeom prst="ellipse">
            <a:avLst/>
          </a:prstGeom>
          <a:solidFill>
            <a:srgbClr val="2EB66E"/>
          </a:solidFill>
          <a:ln w="12700">
            <a:solidFill>
              <a:srgbClr val="2EB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1"/>
          <p:cNvSpPr/>
          <p:nvPr/>
        </p:nvSpPr>
        <p:spPr>
          <a:xfrm>
            <a:off x="7269480" y="9692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operacao-pente-fino / index.html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6748272" y="1499616"/>
            <a:ext cx="4352544" cy="3191256"/>
          </a:xfrm>
          <a:prstGeom prst="roundRect">
            <a:avLst>
              <a:gd name="adj" fmla="val 3438"/>
            </a:avLst>
          </a:prstGeom>
          <a:solidFill>
            <a:srgbClr val="0A3F70"/>
          </a:solidFill>
          <a:ln w="12700">
            <a:solidFill>
              <a:srgbClr val="0A3F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3448" y="1737360"/>
            <a:ext cx="256032" cy="256032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7379208" y="173736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E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7004304" y="2176272"/>
            <a:ext cx="2359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PENTE FINO</a:t>
            </a:r>
            <a:endParaRPr lang="en-US" sz="2300" dirty="0"/>
          </a:p>
        </p:txBody>
      </p:sp>
      <p:sp>
        <p:nvSpPr>
          <p:cNvPr id="49" name="Text 45"/>
          <p:cNvSpPr/>
          <p:nvPr/>
        </p:nvSpPr>
        <p:spPr>
          <a:xfrm>
            <a:off x="7013448" y="259689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8DD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Ciência, cuidado e tecnologia.</a:t>
            </a:r>
            <a:endParaRPr lang="en-US" sz="1080" dirty="0"/>
          </a:p>
        </p:txBody>
      </p:sp>
      <p:sp>
        <p:nvSpPr>
          <p:cNvPr id="50" name="Shape 46"/>
          <p:cNvSpPr/>
          <p:nvPr/>
        </p:nvSpPr>
        <p:spPr>
          <a:xfrm>
            <a:off x="7013448" y="3081528"/>
            <a:ext cx="1508760" cy="384048"/>
          </a:xfrm>
          <a:prstGeom prst="roundRect">
            <a:avLst>
              <a:gd name="adj" fmla="val 3809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7"/>
          <p:cNvSpPr/>
          <p:nvPr/>
        </p:nvSpPr>
        <p:spPr>
          <a:xfrm>
            <a:off x="7086600" y="315468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INICIAR MISSÃO</a:t>
            </a:r>
            <a:endParaRPr lang="en-US" sz="920" dirty="0"/>
          </a:p>
        </p:txBody>
      </p:sp>
      <p:pic>
        <p:nvPicPr>
          <p:cNvPr id="52" name="Image 2" descr="/mnt/data/opf_assets/aba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1922526"/>
            <a:ext cx="1737360" cy="2171700"/>
          </a:xfrm>
          <a:prstGeom prst="rect">
            <a:avLst/>
          </a:prstGeom>
        </p:spPr>
      </p:pic>
      <p:pic>
        <p:nvPicPr>
          <p:cNvPr id="53" name="Image 3" descr="/mnt/data/opf_assets/piolhin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08" y="3520440"/>
            <a:ext cx="804672" cy="100584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6583680" y="528523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52D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real usado como entrega final da UC7</a:t>
            </a:r>
            <a:endParaRPr lang="en-US" sz="1240" dirty="0"/>
          </a:p>
        </p:txBody>
      </p:sp>
      <p:sp>
        <p:nvSpPr>
          <p:cNvPr id="55" name="Text 49"/>
          <p:cNvSpPr/>
          <p:nvPr/>
        </p:nvSpPr>
        <p:spPr>
          <a:xfrm>
            <a:off x="6583680" y="5614416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foco: estrutura, estilo, comportamento e experiência do usuário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F7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CONTEXTO DA ENTREGA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este projeto demonstra na UC7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do que “um site bonito”: estrutura, experiência e comportamento funcionando juntos.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10863072" y="38404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7C8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1856232"/>
            <a:ext cx="4617720" cy="4251960"/>
          </a:xfrm>
          <a:prstGeom prst="roundRect">
            <a:avLst>
              <a:gd name="adj" fmla="val 3871"/>
            </a:avLst>
          </a:prstGeom>
          <a:solidFill>
            <a:srgbClr val="052D57"/>
          </a:solidFill>
          <a:ln w="12700">
            <a:solidFill>
              <a:srgbClr val="052D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112" y="219456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A9C8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 DA UC7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6112" y="2688336"/>
            <a:ext cx="3767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Transformar uma ideia em uma experiência web funcional.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896112" y="3694176"/>
            <a:ext cx="3730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5E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projeto precisava organizar conteúdo, adaptar a interface a diferentes telas e responder às ações do usuário.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05256" y="4672584"/>
            <a:ext cx="192024" cy="192024"/>
          </a:xfrm>
          <a:prstGeom prst="ellipse">
            <a:avLst/>
          </a:prstGeom>
          <a:solidFill>
            <a:srgbClr val="22C7E8"/>
          </a:solidFill>
          <a:ln w="12700">
            <a:solidFill>
              <a:srgbClr val="22C7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976" y="4718304"/>
            <a:ext cx="100584" cy="1005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4645152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semântica e navegação clara</a:t>
            </a:r>
            <a:endParaRPr lang="en-US" sz="1170" dirty="0"/>
          </a:p>
        </p:txBody>
      </p:sp>
      <p:sp>
        <p:nvSpPr>
          <p:cNvPr id="14" name="Shape 10"/>
          <p:cNvSpPr/>
          <p:nvPr/>
        </p:nvSpPr>
        <p:spPr>
          <a:xfrm>
            <a:off x="905256" y="5056632"/>
            <a:ext cx="192024" cy="1920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976" y="5102352"/>
            <a:ext cx="100584" cy="1005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5029200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responsivo e identidade visual</a:t>
            </a:r>
            <a:endParaRPr lang="en-US" sz="1170" dirty="0"/>
          </a:p>
        </p:txBody>
      </p:sp>
      <p:sp>
        <p:nvSpPr>
          <p:cNvPr id="17" name="Shape 12"/>
          <p:cNvSpPr/>
          <p:nvPr/>
        </p:nvSpPr>
        <p:spPr>
          <a:xfrm>
            <a:off x="905256" y="5440680"/>
            <a:ext cx="192024" cy="192024"/>
          </a:xfrm>
          <a:prstGeom prst="ellipse">
            <a:avLst/>
          </a:prstGeom>
          <a:solidFill>
            <a:srgbClr val="249B58"/>
          </a:solidFill>
          <a:ln w="12700">
            <a:solidFill>
              <a:srgbClr val="249B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976" y="5486400"/>
            <a:ext cx="100584" cy="1005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5413248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e jogos com JavaScript</a:t>
            </a:r>
            <a:endParaRPr lang="en-US" sz="1170" dirty="0"/>
          </a:p>
        </p:txBody>
      </p:sp>
      <p:sp>
        <p:nvSpPr>
          <p:cNvPr id="20" name="Text 14"/>
          <p:cNvSpPr/>
          <p:nvPr/>
        </p:nvSpPr>
        <p:spPr>
          <a:xfrm>
            <a:off x="5605272" y="1911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7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 APLICADA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605272" y="22128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Operação Pente Fino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5605272" y="2596896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único Front-End com três jornadas de uso.</a:t>
            </a:r>
            <a:endParaRPr lang="en-US" sz="1280" dirty="0"/>
          </a:p>
        </p:txBody>
      </p:sp>
      <p:sp>
        <p:nvSpPr>
          <p:cNvPr id="23" name="Shape 17"/>
          <p:cNvSpPr/>
          <p:nvPr/>
        </p:nvSpPr>
        <p:spPr>
          <a:xfrm>
            <a:off x="5605272" y="3127248"/>
            <a:ext cx="5705856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5605272" y="3127248"/>
            <a:ext cx="45720" cy="786384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5852160" y="3236976"/>
            <a:ext cx="566928" cy="566928"/>
          </a:xfrm>
          <a:prstGeom prst="ellipse">
            <a:avLst/>
          </a:prstGeom>
          <a:solidFill>
            <a:srgbClr val="F3F8FC"/>
          </a:solidFill>
          <a:ln w="12700">
            <a:solidFill>
              <a:srgbClr val="D9E8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/mnt/data/opf_assets/jo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3159252"/>
            <a:ext cx="548640" cy="685800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5976" y="331012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0880" y="3218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da Criança</a:t>
            </a:r>
            <a:endParaRPr lang="en-US" sz="1270" dirty="0"/>
          </a:p>
        </p:txBody>
      </p:sp>
      <p:sp>
        <p:nvSpPr>
          <p:cNvPr id="29" name="Text 21"/>
          <p:cNvSpPr/>
          <p:nvPr/>
        </p:nvSpPr>
        <p:spPr>
          <a:xfrm>
            <a:off x="7040880" y="34930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missões, jogos e feedback</a:t>
            </a:r>
            <a:endParaRPr lang="en-US" sz="1070" dirty="0"/>
          </a:p>
        </p:txBody>
      </p:sp>
      <p:sp>
        <p:nvSpPr>
          <p:cNvPr id="30" name="Shape 22"/>
          <p:cNvSpPr/>
          <p:nvPr/>
        </p:nvSpPr>
        <p:spPr>
          <a:xfrm>
            <a:off x="5605272" y="4069080"/>
            <a:ext cx="5705856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3"/>
          <p:cNvSpPr/>
          <p:nvPr/>
        </p:nvSpPr>
        <p:spPr>
          <a:xfrm>
            <a:off x="5605272" y="4069080"/>
            <a:ext cx="45720" cy="786384"/>
          </a:xfrm>
          <a:prstGeom prst="rect">
            <a:avLst/>
          </a:prstGeom>
          <a:solidFill>
            <a:srgbClr val="22C7E8"/>
          </a:solidFill>
          <a:ln w="12700">
            <a:solidFill>
              <a:srgbClr val="22C7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4"/>
          <p:cNvSpPr/>
          <p:nvPr/>
        </p:nvSpPr>
        <p:spPr>
          <a:xfrm>
            <a:off x="5852160" y="4178808"/>
            <a:ext cx="566928" cy="566928"/>
          </a:xfrm>
          <a:prstGeom prst="ellipse">
            <a:avLst/>
          </a:prstGeom>
          <a:solidFill>
            <a:srgbClr val="F3F8FC"/>
          </a:solidFill>
          <a:ln w="12700">
            <a:solidFill>
              <a:srgbClr val="D9E8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6" descr="/mnt/data/opf_assets/lil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1304" y="4101084"/>
            <a:ext cx="548640" cy="685800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5976" y="4251960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4160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do Professor</a:t>
            </a:r>
            <a:endParaRPr lang="en-US" sz="1270" dirty="0"/>
          </a:p>
        </p:txBody>
      </p:sp>
      <p:sp>
        <p:nvSpPr>
          <p:cNvPr id="36" name="Text 26"/>
          <p:cNvSpPr/>
          <p:nvPr/>
        </p:nvSpPr>
        <p:spPr>
          <a:xfrm>
            <a:off x="7040880" y="4434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roteiro, material e compartilhamento</a:t>
            </a:r>
            <a:endParaRPr lang="en-US" sz="1070" dirty="0"/>
          </a:p>
        </p:txBody>
      </p:sp>
      <p:sp>
        <p:nvSpPr>
          <p:cNvPr id="37" name="Shape 27"/>
          <p:cNvSpPr/>
          <p:nvPr/>
        </p:nvSpPr>
        <p:spPr>
          <a:xfrm>
            <a:off x="5605272" y="5010912"/>
            <a:ext cx="5705856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28"/>
          <p:cNvSpPr/>
          <p:nvPr/>
        </p:nvSpPr>
        <p:spPr>
          <a:xfrm>
            <a:off x="5605272" y="5010912"/>
            <a:ext cx="45720" cy="786384"/>
          </a:xfrm>
          <a:prstGeom prst="rect">
            <a:avLst/>
          </a:prstGeom>
          <a:solidFill>
            <a:srgbClr val="249B58"/>
          </a:solidFill>
          <a:ln w="12700">
            <a:solidFill>
              <a:srgbClr val="249B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29"/>
          <p:cNvSpPr/>
          <p:nvPr/>
        </p:nvSpPr>
        <p:spPr>
          <a:xfrm>
            <a:off x="5852160" y="5120640"/>
            <a:ext cx="566928" cy="566928"/>
          </a:xfrm>
          <a:prstGeom prst="ellipse">
            <a:avLst/>
          </a:prstGeom>
          <a:solidFill>
            <a:srgbClr val="F3F8FC"/>
          </a:solidFill>
          <a:ln w="12700">
            <a:solidFill>
              <a:srgbClr val="D9E8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 8" descr="/mnt/data/opf_assets/m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1304" y="5042916"/>
            <a:ext cx="548640" cy="685800"/>
          </a:xfrm>
          <a:prstGeom prst="rect">
            <a:avLst/>
          </a:prstGeom>
        </p:spPr>
      </p:pic>
      <p:pic>
        <p:nvPicPr>
          <p:cNvPr id="4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5976" y="5193792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040880" y="51023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da Família</a:t>
            </a:r>
            <a:endParaRPr lang="en-US" sz="1270" dirty="0"/>
          </a:p>
        </p:txBody>
      </p:sp>
      <p:sp>
        <p:nvSpPr>
          <p:cNvPr id="43" name="Text 31"/>
          <p:cNvSpPr/>
          <p:nvPr/>
        </p:nvSpPr>
        <p:spPr>
          <a:xfrm>
            <a:off x="7040880" y="53766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orientações e prevenção</a:t>
            </a:r>
            <a:endParaRPr lang="en-US" sz="1070" dirty="0"/>
          </a:p>
        </p:txBody>
      </p:sp>
      <p:sp>
        <p:nvSpPr>
          <p:cNvPr id="44" name="Shape 32"/>
          <p:cNvSpPr/>
          <p:nvPr/>
        </p:nvSpPr>
        <p:spPr>
          <a:xfrm>
            <a:off x="566928" y="6547104"/>
            <a:ext cx="11064240" cy="0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33"/>
          <p:cNvSpPr/>
          <p:nvPr/>
        </p:nvSpPr>
        <p:spPr>
          <a:xfrm>
            <a:off x="566928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50" dirty="0">
                <a:solidFill>
                  <a:srgbClr val="78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UC7 • DESENVOLVIMENTO WEB / FRONT-END</a:t>
            </a:r>
            <a:endParaRPr lang="en-US" sz="840" dirty="0"/>
          </a:p>
        </p:txBody>
      </p:sp>
      <p:sp>
        <p:nvSpPr>
          <p:cNvPr id="46" name="Text 34"/>
          <p:cNvSpPr/>
          <p:nvPr/>
        </p:nvSpPr>
        <p:spPr>
          <a:xfrm>
            <a:off x="8558784" y="65836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kern="0" spc="40" dirty="0">
                <a:solidFill>
                  <a:srgbClr val="78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APLICADO: OPERAÇÃO PENTE FINO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F7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CONSTRUÇÃO DO FRONT-END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base do projeto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organiza • CSS apresenta • JavaScript dá comportamento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10863072" y="38404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7C8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1856232"/>
            <a:ext cx="3172968" cy="3273552"/>
          </a:xfrm>
          <a:prstGeom prst="roundRect">
            <a:avLst>
              <a:gd name="adj" fmla="val 5187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68096" y="2075688"/>
            <a:ext cx="2770632" cy="749808"/>
          </a:xfrm>
          <a:prstGeom prst="roundRect">
            <a:avLst>
              <a:gd name="adj" fmla="val 17073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20" y="222199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7904" y="21122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kern="0" spc="100" dirty="0">
                <a:solidFill>
                  <a:srgbClr val="E44D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1517904" y="23042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HTML5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68680" y="3118104"/>
            <a:ext cx="192024" cy="192024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63824"/>
            <a:ext cx="100584" cy="1005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52144" y="309067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nav, main, section e footer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868680" y="3621024"/>
            <a:ext cx="192024" cy="192024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666744"/>
            <a:ext cx="100584" cy="1005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359359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 entre as páginas</a:t>
            </a:r>
            <a:endParaRPr lang="en-US" sz="1120" dirty="0"/>
          </a:p>
        </p:txBody>
      </p:sp>
      <p:sp>
        <p:nvSpPr>
          <p:cNvPr id="17" name="Shape 12"/>
          <p:cNvSpPr/>
          <p:nvPr/>
        </p:nvSpPr>
        <p:spPr>
          <a:xfrm>
            <a:off x="868680" y="4123944"/>
            <a:ext cx="192024" cy="192024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169664"/>
            <a:ext cx="100584" cy="1005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52144" y="409651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 aria e semântica</a:t>
            </a:r>
            <a:endParaRPr lang="en-US" sz="1120" dirty="0"/>
          </a:p>
        </p:txBody>
      </p:sp>
      <p:sp>
        <p:nvSpPr>
          <p:cNvPr id="20" name="Shape 14"/>
          <p:cNvSpPr/>
          <p:nvPr/>
        </p:nvSpPr>
        <p:spPr>
          <a:xfrm>
            <a:off x="4215384" y="1856232"/>
            <a:ext cx="3172968" cy="3273552"/>
          </a:xfrm>
          <a:prstGeom prst="roundRect">
            <a:avLst>
              <a:gd name="adj" fmla="val 5187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4416552" y="2075688"/>
            <a:ext cx="2770632" cy="749808"/>
          </a:xfrm>
          <a:prstGeom prst="roundRect">
            <a:avLst>
              <a:gd name="adj" fmla="val 17073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8576" y="222199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21122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kern="0" spc="100" dirty="0">
                <a:solidFill>
                  <a:srgbClr val="1572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940" dirty="0"/>
          </a:p>
        </p:txBody>
      </p:sp>
      <p:sp>
        <p:nvSpPr>
          <p:cNvPr id="24" name="Text 17"/>
          <p:cNvSpPr/>
          <p:nvPr/>
        </p:nvSpPr>
        <p:spPr>
          <a:xfrm>
            <a:off x="5166360" y="23042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CSS3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4517136" y="3118104"/>
            <a:ext cx="192024" cy="192024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2856" y="3163824"/>
            <a:ext cx="100584" cy="1005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00600" y="309067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grid/flex e responsividade</a:t>
            </a:r>
            <a:endParaRPr lang="en-US" sz="1120" dirty="0"/>
          </a:p>
        </p:txBody>
      </p:sp>
      <p:sp>
        <p:nvSpPr>
          <p:cNvPr id="28" name="Shape 20"/>
          <p:cNvSpPr/>
          <p:nvPr/>
        </p:nvSpPr>
        <p:spPr>
          <a:xfrm>
            <a:off x="4517136" y="3621024"/>
            <a:ext cx="192024" cy="192024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2856" y="3666744"/>
            <a:ext cx="100584" cy="1005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800600" y="359359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cores, estados e animações</a:t>
            </a:r>
            <a:endParaRPr lang="en-US" sz="1120" dirty="0"/>
          </a:p>
        </p:txBody>
      </p:sp>
      <p:sp>
        <p:nvSpPr>
          <p:cNvPr id="31" name="Shape 22"/>
          <p:cNvSpPr/>
          <p:nvPr/>
        </p:nvSpPr>
        <p:spPr>
          <a:xfrm>
            <a:off x="4517136" y="4123944"/>
            <a:ext cx="192024" cy="192024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2856" y="4169664"/>
            <a:ext cx="100584" cy="10058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800600" y="409651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e breakpoints</a:t>
            </a:r>
            <a:endParaRPr lang="en-US" sz="1120" dirty="0"/>
          </a:p>
        </p:txBody>
      </p:sp>
      <p:sp>
        <p:nvSpPr>
          <p:cNvPr id="34" name="Shape 24"/>
          <p:cNvSpPr/>
          <p:nvPr/>
        </p:nvSpPr>
        <p:spPr>
          <a:xfrm>
            <a:off x="7863840" y="1856232"/>
            <a:ext cx="3172968" cy="3273552"/>
          </a:xfrm>
          <a:prstGeom prst="roundRect">
            <a:avLst>
              <a:gd name="adj" fmla="val 5187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25"/>
          <p:cNvSpPr/>
          <p:nvPr/>
        </p:nvSpPr>
        <p:spPr>
          <a:xfrm>
            <a:off x="8065008" y="2075688"/>
            <a:ext cx="2770632" cy="749808"/>
          </a:xfrm>
          <a:prstGeom prst="roundRect">
            <a:avLst>
              <a:gd name="adj" fmla="val 17073"/>
            </a:avLst>
          </a:prstGeom>
          <a:solidFill>
            <a:srgbClr val="FFF7C9"/>
          </a:solidFill>
          <a:ln w="12700">
            <a:solidFill>
              <a:srgbClr val="FFF7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7032" y="2221992"/>
            <a:ext cx="402336" cy="40233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814816" y="21122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kern="0" spc="100" dirty="0">
                <a:solidFill>
                  <a:srgbClr val="D2A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INTERAÇÃO</a:t>
            </a:r>
            <a:endParaRPr lang="en-US" sz="940" dirty="0"/>
          </a:p>
        </p:txBody>
      </p:sp>
      <p:sp>
        <p:nvSpPr>
          <p:cNvPr id="38" name="Text 27"/>
          <p:cNvSpPr/>
          <p:nvPr/>
        </p:nvSpPr>
        <p:spPr>
          <a:xfrm>
            <a:off x="8814816" y="23042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39" name="Shape 28"/>
          <p:cNvSpPr/>
          <p:nvPr/>
        </p:nvSpPr>
        <p:spPr>
          <a:xfrm>
            <a:off x="8165592" y="3118104"/>
            <a:ext cx="192024" cy="192024"/>
          </a:xfrm>
          <a:prstGeom prst="ellipse">
            <a:avLst/>
          </a:prstGeom>
          <a:solidFill>
            <a:srgbClr val="D2A500"/>
          </a:solidFill>
          <a:ln w="12700">
            <a:solidFill>
              <a:srgbClr val="D2A5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1312" y="3163824"/>
            <a:ext cx="100584" cy="10058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449056" y="309067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 + eventos de clique</a:t>
            </a:r>
            <a:endParaRPr lang="en-US" sz="1120" dirty="0"/>
          </a:p>
        </p:txBody>
      </p:sp>
      <p:sp>
        <p:nvSpPr>
          <p:cNvPr id="42" name="Shape 30"/>
          <p:cNvSpPr/>
          <p:nvPr/>
        </p:nvSpPr>
        <p:spPr>
          <a:xfrm>
            <a:off x="8165592" y="3621024"/>
            <a:ext cx="192024" cy="192024"/>
          </a:xfrm>
          <a:prstGeom prst="ellipse">
            <a:avLst/>
          </a:prstGeom>
          <a:solidFill>
            <a:srgbClr val="D2A500"/>
          </a:solidFill>
          <a:ln w="12700">
            <a:solidFill>
              <a:srgbClr val="D2A5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1312" y="3666744"/>
            <a:ext cx="100584" cy="10058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449056" y="359359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timers, pontuação e feedback</a:t>
            </a:r>
            <a:endParaRPr lang="en-US" sz="1120" dirty="0"/>
          </a:p>
        </p:txBody>
      </p:sp>
      <p:sp>
        <p:nvSpPr>
          <p:cNvPr id="45" name="Shape 32"/>
          <p:cNvSpPr/>
          <p:nvPr/>
        </p:nvSpPr>
        <p:spPr>
          <a:xfrm>
            <a:off x="8165592" y="4123944"/>
            <a:ext cx="192024" cy="192024"/>
          </a:xfrm>
          <a:prstGeom prst="ellipse">
            <a:avLst/>
          </a:prstGeom>
          <a:solidFill>
            <a:srgbClr val="D2A500"/>
          </a:solidFill>
          <a:ln w="12700">
            <a:solidFill>
              <a:srgbClr val="D2A5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1312" y="4169664"/>
            <a:ext cx="100584" cy="10058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8449056" y="409651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e acessibilidade</a:t>
            </a:r>
            <a:endParaRPr lang="en-US" sz="1120" dirty="0"/>
          </a:p>
        </p:txBody>
      </p:sp>
      <p:sp>
        <p:nvSpPr>
          <p:cNvPr id="48" name="Shape 34"/>
          <p:cNvSpPr/>
          <p:nvPr/>
        </p:nvSpPr>
        <p:spPr>
          <a:xfrm>
            <a:off x="566928" y="5422392"/>
            <a:ext cx="10936224" cy="859536"/>
          </a:xfrm>
          <a:prstGeom prst="roundRect">
            <a:avLst>
              <a:gd name="adj" fmla="val 17021"/>
            </a:avLst>
          </a:prstGeom>
          <a:solidFill>
            <a:srgbClr val="081A2D"/>
          </a:solidFill>
          <a:ln w="12700">
            <a:solidFill>
              <a:srgbClr val="081A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04" y="5660136"/>
            <a:ext cx="256032" cy="256032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1225296" y="55778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20" dirty="0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31720" y="5650992"/>
            <a:ext cx="173736" cy="173736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2606040" y="557784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12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0168" y="5650992"/>
            <a:ext cx="173736" cy="173736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3904488" y="557784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120" dirty="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8616" y="5650992"/>
            <a:ext cx="173736" cy="173736"/>
          </a:xfrm>
          <a:prstGeom prst="rect">
            <a:avLst/>
          </a:prstGeom>
        </p:spPr>
      </p:pic>
      <p:sp>
        <p:nvSpPr>
          <p:cNvPr id="56" name="Text 38"/>
          <p:cNvSpPr/>
          <p:nvPr/>
        </p:nvSpPr>
        <p:spPr>
          <a:xfrm>
            <a:off x="5202936" y="55778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caca.js</a:t>
            </a:r>
            <a:endParaRPr lang="en-US" sz="1120" dirty="0"/>
          </a:p>
        </p:txBody>
      </p:sp>
      <p:sp>
        <p:nvSpPr>
          <p:cNvPr id="57" name="Text 39"/>
          <p:cNvSpPr/>
          <p:nvPr/>
        </p:nvSpPr>
        <p:spPr>
          <a:xfrm>
            <a:off x="6483096" y="55778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5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páginas: criança • professor • família • sobre</a:t>
            </a:r>
            <a:endParaRPr lang="en-US" sz="1100" dirty="0"/>
          </a:p>
        </p:txBody>
      </p:sp>
      <p:sp>
        <p:nvSpPr>
          <p:cNvPr id="58" name="Shape 40"/>
          <p:cNvSpPr/>
          <p:nvPr/>
        </p:nvSpPr>
        <p:spPr>
          <a:xfrm>
            <a:off x="566928" y="6547104"/>
            <a:ext cx="11064240" cy="0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41"/>
          <p:cNvSpPr/>
          <p:nvPr/>
        </p:nvSpPr>
        <p:spPr>
          <a:xfrm>
            <a:off x="566928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50" dirty="0">
                <a:solidFill>
                  <a:srgbClr val="78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UC7 • DESENVOLVIMENTO WEB / FRONT-END</a:t>
            </a:r>
            <a:endParaRPr lang="en-US" sz="840" dirty="0"/>
          </a:p>
        </p:txBody>
      </p:sp>
      <p:sp>
        <p:nvSpPr>
          <p:cNvPr id="60" name="Text 42"/>
          <p:cNvSpPr/>
          <p:nvPr/>
        </p:nvSpPr>
        <p:spPr>
          <a:xfrm>
            <a:off x="8558784" y="65836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kern="0" spc="40" dirty="0">
                <a:solidFill>
                  <a:srgbClr val="78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APLICADO: OPERAÇÃO PENTE FINO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F7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INTERFACE E EXPERIÊNCIA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Responsividade + usabilidade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mesma experiência precisa funcionar bem em desktop, tablet e celular.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10863072" y="38404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7C8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1883664"/>
            <a:ext cx="5888736" cy="4261104"/>
          </a:xfrm>
          <a:prstGeom prst="roundRect">
            <a:avLst>
              <a:gd name="adj" fmla="val 4721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59536" y="211226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kern="0" spc="90" dirty="0">
                <a:solidFill>
                  <a:srgbClr val="0F7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DO PROJETO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896112" y="2551176"/>
            <a:ext cx="4224528" cy="2487168"/>
          </a:xfrm>
          <a:prstGeom prst="roundRect">
            <a:avLst>
              <a:gd name="adj" fmla="val 3676"/>
            </a:avLst>
          </a:prstGeom>
          <a:solidFill>
            <a:srgbClr val="0A3F70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96112" y="2551176"/>
            <a:ext cx="4224528" cy="310896"/>
          </a:xfrm>
          <a:prstGeom prst="rect">
            <a:avLst/>
          </a:prstGeom>
          <a:solidFill>
            <a:srgbClr val="ECF4F8"/>
          </a:solidFill>
          <a:ln w="12700">
            <a:solidFill>
              <a:srgbClr val="ECF4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60704" y="2651760"/>
            <a:ext cx="73152" cy="73152"/>
          </a:xfrm>
          <a:prstGeom prst="ellipse">
            <a:avLst/>
          </a:prstGeom>
          <a:solidFill>
            <a:srgbClr val="E64F4F"/>
          </a:solidFill>
          <a:ln w="12700">
            <a:solidFill>
              <a:srgbClr val="E64F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243584" y="2651760"/>
            <a:ext cx="73152" cy="73152"/>
          </a:xfrm>
          <a:prstGeom prst="ellipse">
            <a:avLst/>
          </a:prstGeom>
          <a:solidFill>
            <a:srgbClr val="F1B53D"/>
          </a:solidFill>
          <a:ln w="12700">
            <a:solidFill>
              <a:srgbClr val="F1B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426464" y="2651760"/>
            <a:ext cx="73152" cy="73152"/>
          </a:xfrm>
          <a:prstGeom prst="ellipse">
            <a:avLst/>
          </a:prstGeom>
          <a:solidFill>
            <a:srgbClr val="2EB66E"/>
          </a:solidFill>
          <a:ln w="12700">
            <a:solidFill>
              <a:srgbClr val="2EB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06424" y="30540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Operação Pente Fino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6424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BD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área para cada missão.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106424" y="3858768"/>
            <a:ext cx="804672" cy="310896"/>
          </a:xfrm>
          <a:prstGeom prst="roundRect">
            <a:avLst>
              <a:gd name="adj" fmla="val 47059"/>
            </a:avLst>
          </a:prstGeom>
          <a:solidFill>
            <a:srgbClr val="5D4700"/>
          </a:solidFill>
          <a:ln w="10160">
            <a:solidFill>
              <a:srgbClr val="8063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79576" y="38679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30" dirty="0">
                <a:solidFill>
                  <a:srgbClr val="FFD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CRIANÇA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011680" y="3858768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0B537F"/>
          </a:solidFill>
          <a:ln w="10160">
            <a:solidFill>
              <a:srgbClr val="2B789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084832" y="386791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30" dirty="0">
                <a:solidFill>
                  <a:srgbClr val="22C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127248" y="3858768"/>
            <a:ext cx="804672" cy="310896"/>
          </a:xfrm>
          <a:prstGeom prst="roundRect">
            <a:avLst>
              <a:gd name="adj" fmla="val 47059"/>
            </a:avLst>
          </a:prstGeom>
          <a:solidFill>
            <a:srgbClr val="0B5732"/>
          </a:solidFill>
          <a:ln w="10160">
            <a:solidFill>
              <a:srgbClr val="2D7E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200400" y="38679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30" dirty="0">
                <a:solidFill>
                  <a:srgbClr val="83E9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FAMÍLIA</a:t>
            </a:r>
            <a:endParaRPr lang="en-US" sz="920" dirty="0"/>
          </a:p>
        </p:txBody>
      </p:sp>
      <p:pic>
        <p:nvPicPr>
          <p:cNvPr id="21" name="Image 0" descr="/mnt/data/opf_assets/aba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3305556"/>
            <a:ext cx="841248" cy="10515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85800" y="5029200"/>
            <a:ext cx="4663440" cy="265176"/>
          </a:xfrm>
          <a:prstGeom prst="trapezoid">
            <a:avLst/>
          </a:prstGeom>
          <a:solidFill>
            <a:srgbClr val="A8BDCB"/>
          </a:solidFill>
          <a:ln w="10160">
            <a:solidFill>
              <a:srgbClr val="91A8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873752" y="3090672"/>
            <a:ext cx="1078992" cy="2148840"/>
          </a:xfrm>
          <a:prstGeom prst="roundRect">
            <a:avLst>
              <a:gd name="adj" fmla="val 13559"/>
            </a:avLst>
          </a:prstGeom>
          <a:solidFill>
            <a:srgbClr val="132738"/>
          </a:solidFill>
          <a:ln w="12700">
            <a:solidFill>
              <a:srgbClr val="1327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4956048" y="3255264"/>
            <a:ext cx="914400" cy="1810512"/>
          </a:xfrm>
          <a:prstGeom prst="roundRect">
            <a:avLst>
              <a:gd name="adj" fmla="val 10000"/>
            </a:avLst>
          </a:prstGeom>
          <a:solidFill>
            <a:srgbClr val="0A3F70"/>
          </a:solidFill>
          <a:ln w="12700">
            <a:solidFill>
              <a:srgbClr val="0A3F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8112" y="3401568"/>
            <a:ext cx="164592" cy="16459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84064" y="371246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PENTE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FINO</a:t>
            </a:r>
            <a:endParaRPr lang="en-US" sz="1260" dirty="0"/>
          </a:p>
        </p:txBody>
      </p:sp>
      <p:pic>
        <p:nvPicPr>
          <p:cNvPr id="27" name="Image 2" descr="/mnt/data/opf_assets/piolhin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909" y="4297680"/>
            <a:ext cx="380390" cy="4754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03136" y="19476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7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DE EXPERIÊNCIA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803136" y="2395728"/>
            <a:ext cx="457200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5"/>
          <p:cNvSpPr/>
          <p:nvPr/>
        </p:nvSpPr>
        <p:spPr>
          <a:xfrm>
            <a:off x="7040880" y="2514600"/>
            <a:ext cx="457200" cy="457200"/>
          </a:xfrm>
          <a:prstGeom prst="ellipse">
            <a:avLst/>
          </a:prstGeom>
          <a:solidFill>
            <a:srgbClr val="F2F7FA"/>
          </a:solidFill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8896" y="2642616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708392" y="24871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responsivo</a:t>
            </a:r>
            <a:endParaRPr lang="en-US" sz="1220" dirty="0"/>
          </a:p>
        </p:txBody>
      </p:sp>
      <p:sp>
        <p:nvSpPr>
          <p:cNvPr id="33" name="Text 27"/>
          <p:cNvSpPr/>
          <p:nvPr/>
        </p:nvSpPr>
        <p:spPr>
          <a:xfrm>
            <a:off x="9125712" y="24688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 navegação, cards e conteúdo ao tamanho da tela</a:t>
            </a:r>
            <a:endParaRPr lang="en-US" sz="1040" dirty="0"/>
          </a:p>
        </p:txBody>
      </p:sp>
      <p:sp>
        <p:nvSpPr>
          <p:cNvPr id="34" name="Shape 28"/>
          <p:cNvSpPr/>
          <p:nvPr/>
        </p:nvSpPr>
        <p:spPr>
          <a:xfrm>
            <a:off x="6803136" y="3291840"/>
            <a:ext cx="457200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29"/>
          <p:cNvSpPr/>
          <p:nvPr/>
        </p:nvSpPr>
        <p:spPr>
          <a:xfrm>
            <a:off x="7040880" y="3410712"/>
            <a:ext cx="457200" cy="457200"/>
          </a:xfrm>
          <a:prstGeom prst="ellipse">
            <a:avLst/>
          </a:prstGeom>
          <a:solidFill>
            <a:srgbClr val="F2F7FA"/>
          </a:solidFill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8896" y="3538728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708392" y="33832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mobile</a:t>
            </a:r>
            <a:endParaRPr lang="en-US" sz="1220" dirty="0"/>
          </a:p>
        </p:txBody>
      </p:sp>
      <p:sp>
        <p:nvSpPr>
          <p:cNvPr id="38" name="Text 31"/>
          <p:cNvSpPr/>
          <p:nvPr/>
        </p:nvSpPr>
        <p:spPr>
          <a:xfrm>
            <a:off x="9125712" y="3364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de abertura/fechamento com aria-expanded</a:t>
            </a:r>
            <a:endParaRPr lang="en-US" sz="1040" dirty="0"/>
          </a:p>
        </p:txBody>
      </p:sp>
      <p:sp>
        <p:nvSpPr>
          <p:cNvPr id="39" name="Shape 32"/>
          <p:cNvSpPr/>
          <p:nvPr/>
        </p:nvSpPr>
        <p:spPr>
          <a:xfrm>
            <a:off x="6803136" y="4187952"/>
            <a:ext cx="457200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3"/>
          <p:cNvSpPr/>
          <p:nvPr/>
        </p:nvSpPr>
        <p:spPr>
          <a:xfrm>
            <a:off x="7040880" y="4306824"/>
            <a:ext cx="457200" cy="457200"/>
          </a:xfrm>
          <a:prstGeom prst="ellipse">
            <a:avLst/>
          </a:prstGeom>
          <a:solidFill>
            <a:srgbClr val="F2F7FA"/>
          </a:solidFill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8896" y="4434840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708392" y="42793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Acessibilidade</a:t>
            </a:r>
            <a:endParaRPr lang="en-US" sz="1220" dirty="0"/>
          </a:p>
        </p:txBody>
      </p:sp>
      <p:sp>
        <p:nvSpPr>
          <p:cNvPr id="43" name="Text 35"/>
          <p:cNvSpPr/>
          <p:nvPr/>
        </p:nvSpPr>
        <p:spPr>
          <a:xfrm>
            <a:off x="9125712" y="42611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contraste, aumento de texto e menos movimento</a:t>
            </a:r>
            <a:endParaRPr lang="en-US" sz="1040" dirty="0"/>
          </a:p>
        </p:txBody>
      </p:sp>
      <p:sp>
        <p:nvSpPr>
          <p:cNvPr id="44" name="Shape 36"/>
          <p:cNvSpPr/>
          <p:nvPr/>
        </p:nvSpPr>
        <p:spPr>
          <a:xfrm>
            <a:off x="6803136" y="5084064"/>
            <a:ext cx="457200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37"/>
          <p:cNvSpPr/>
          <p:nvPr/>
        </p:nvSpPr>
        <p:spPr>
          <a:xfrm>
            <a:off x="7040880" y="5202936"/>
            <a:ext cx="457200" cy="457200"/>
          </a:xfrm>
          <a:prstGeom prst="ellipse">
            <a:avLst/>
          </a:prstGeom>
          <a:solidFill>
            <a:srgbClr val="F2F7FA"/>
          </a:solidFill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8896" y="5330952"/>
            <a:ext cx="201168" cy="20116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7708392" y="51755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Teclado e foco</a:t>
            </a:r>
            <a:endParaRPr lang="en-US" sz="1220" dirty="0"/>
          </a:p>
        </p:txBody>
      </p:sp>
      <p:sp>
        <p:nvSpPr>
          <p:cNvPr id="48" name="Text 39"/>
          <p:cNvSpPr/>
          <p:nvPr/>
        </p:nvSpPr>
        <p:spPr>
          <a:xfrm>
            <a:off x="9125712" y="51572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preservadas além do uso do mouse</a:t>
            </a:r>
            <a:endParaRPr lang="en-US" sz="1040" dirty="0"/>
          </a:p>
        </p:txBody>
      </p:sp>
      <p:sp>
        <p:nvSpPr>
          <p:cNvPr id="49" name="Shape 40"/>
          <p:cNvSpPr/>
          <p:nvPr/>
        </p:nvSpPr>
        <p:spPr>
          <a:xfrm>
            <a:off x="566928" y="6547104"/>
            <a:ext cx="11064240" cy="0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1"/>
          <p:cNvSpPr/>
          <p:nvPr/>
        </p:nvSpPr>
        <p:spPr>
          <a:xfrm>
            <a:off x="566928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50" dirty="0">
                <a:solidFill>
                  <a:srgbClr val="78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UC7 • DESENVOLVIMENTO WEB / FRONT-END</a:t>
            </a:r>
            <a:endParaRPr lang="en-US" sz="840" dirty="0"/>
          </a:p>
        </p:txBody>
      </p:sp>
      <p:sp>
        <p:nvSpPr>
          <p:cNvPr id="51" name="Text 42"/>
          <p:cNvSpPr/>
          <p:nvPr/>
        </p:nvSpPr>
        <p:spPr>
          <a:xfrm>
            <a:off x="8558784" y="65836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kern="0" spc="40" dirty="0">
                <a:solidFill>
                  <a:srgbClr val="78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APLICADO: OPERAÇÃO PENTE FINO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2C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COMPORTAMENTO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em ação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8C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Eventos, DOM, pontuação e feedback transformam a página em uma experiência interativa.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10863072" y="38404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4B7E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4663440" cy="4315968"/>
          </a:xfrm>
          <a:prstGeom prst="roundRect">
            <a:avLst>
              <a:gd name="adj" fmla="val 4661"/>
            </a:avLst>
          </a:prstGeom>
          <a:solidFill>
            <a:srgbClr val="0B487A"/>
          </a:solidFill>
          <a:ln w="13970">
            <a:solidFill>
              <a:srgbClr val="2E719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6112" y="21396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kern="0" spc="100" dirty="0">
                <a:solidFill>
                  <a:srgbClr val="FFD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MISSÃO 02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896112" y="24688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Caça ao Piolho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96112" y="288950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ED4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exemplo de interação construída com JavaScript.</a:t>
            </a:r>
            <a:endParaRPr lang="en-US" sz="1220" dirty="0"/>
          </a:p>
        </p:txBody>
      </p:sp>
      <p:pic>
        <p:nvPicPr>
          <p:cNvPr id="10" name="Image 0" descr="/mnt/data/opf_assets/piolhinho-j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817" y="4535424"/>
            <a:ext cx="1126943" cy="140817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96112" y="3703320"/>
            <a:ext cx="960120" cy="932688"/>
          </a:xfrm>
          <a:prstGeom prst="roundRect">
            <a:avLst>
              <a:gd name="adj" fmla="val 13725"/>
            </a:avLst>
          </a:prstGeom>
          <a:solidFill>
            <a:srgbClr val="073B66"/>
          </a:solidFill>
          <a:ln w="12700">
            <a:solidFill>
              <a:srgbClr val="2C6E9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440" y="385876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4133088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s</a:t>
            </a:r>
            <a:endParaRPr lang="en-US" sz="1120" dirty="0"/>
          </a:p>
        </p:txBody>
      </p:sp>
      <p:sp>
        <p:nvSpPr>
          <p:cNvPr id="14" name="Text 10"/>
          <p:cNvSpPr/>
          <p:nvPr/>
        </p:nvSpPr>
        <p:spPr>
          <a:xfrm>
            <a:off x="950976" y="4361688"/>
            <a:ext cx="8503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7C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cronômetro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1947672" y="3703320"/>
            <a:ext cx="960120" cy="932688"/>
          </a:xfrm>
          <a:prstGeom prst="roundRect">
            <a:avLst>
              <a:gd name="adj" fmla="val 13725"/>
            </a:avLst>
          </a:prstGeom>
          <a:solidFill>
            <a:srgbClr val="073B66"/>
          </a:solidFill>
          <a:ln w="12700">
            <a:solidFill>
              <a:srgbClr val="2C6E9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6000" y="385876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20824" y="4133088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fases</a:t>
            </a:r>
            <a:endParaRPr lang="en-US" sz="1120" dirty="0"/>
          </a:p>
        </p:txBody>
      </p:sp>
      <p:sp>
        <p:nvSpPr>
          <p:cNvPr id="18" name="Text 13"/>
          <p:cNvSpPr/>
          <p:nvPr/>
        </p:nvSpPr>
        <p:spPr>
          <a:xfrm>
            <a:off x="2002536" y="4361688"/>
            <a:ext cx="8503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7C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progressão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127248" y="3703320"/>
            <a:ext cx="960120" cy="932688"/>
          </a:xfrm>
          <a:prstGeom prst="roundRect">
            <a:avLst>
              <a:gd name="adj" fmla="val 13725"/>
            </a:avLst>
          </a:prstGeom>
          <a:solidFill>
            <a:srgbClr val="073B66"/>
          </a:solidFill>
          <a:ln w="12700">
            <a:solidFill>
              <a:srgbClr val="2C6E9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5576" y="385876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200400" y="4133088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</a:t>
            </a:r>
            <a:endParaRPr lang="en-US" sz="1120" dirty="0"/>
          </a:p>
        </p:txBody>
      </p:sp>
      <p:sp>
        <p:nvSpPr>
          <p:cNvPr id="22" name="Text 16"/>
          <p:cNvSpPr/>
          <p:nvPr/>
        </p:nvSpPr>
        <p:spPr>
          <a:xfrm>
            <a:off x="3182112" y="4361688"/>
            <a:ext cx="8503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A7C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896112" y="4965192"/>
            <a:ext cx="192024" cy="192024"/>
          </a:xfrm>
          <a:prstGeom prst="ellipse">
            <a:avLst/>
          </a:prstGeom>
          <a:solidFill>
            <a:srgbClr val="22C7E8"/>
          </a:solidFill>
          <a:ln w="12700">
            <a:solidFill>
              <a:srgbClr val="22C7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1832" y="5010912"/>
            <a:ext cx="100584" cy="1005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79576" y="4937760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cliques alteram estado e pontuação</a:t>
            </a:r>
            <a:endParaRPr lang="en-US" sz="1110" dirty="0"/>
          </a:p>
        </p:txBody>
      </p:sp>
      <p:sp>
        <p:nvSpPr>
          <p:cNvPr id="26" name="Shape 19"/>
          <p:cNvSpPr/>
          <p:nvPr/>
        </p:nvSpPr>
        <p:spPr>
          <a:xfrm>
            <a:off x="896112" y="5321808"/>
            <a:ext cx="192024" cy="1920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1832" y="5367528"/>
            <a:ext cx="100584" cy="1005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79576" y="5294376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visual para acerto e erro</a:t>
            </a:r>
            <a:endParaRPr lang="en-US" sz="1110" dirty="0"/>
          </a:p>
        </p:txBody>
      </p:sp>
      <p:sp>
        <p:nvSpPr>
          <p:cNvPr id="29" name="Shape 21"/>
          <p:cNvSpPr/>
          <p:nvPr/>
        </p:nvSpPr>
        <p:spPr>
          <a:xfrm>
            <a:off x="896112" y="5678424"/>
            <a:ext cx="192024" cy="192024"/>
          </a:xfrm>
          <a:prstGeom prst="ellipse">
            <a:avLst/>
          </a:prstGeom>
          <a:solidFill>
            <a:srgbClr val="249B58"/>
          </a:solidFill>
          <a:ln w="12700">
            <a:solidFill>
              <a:srgbClr val="249B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1832" y="5724144"/>
            <a:ext cx="100584" cy="1005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79576" y="565099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simples persistem no navegador</a:t>
            </a:r>
            <a:endParaRPr lang="en-US" sz="1110" dirty="0"/>
          </a:p>
        </p:txBody>
      </p:sp>
      <p:sp>
        <p:nvSpPr>
          <p:cNvPr id="32" name="Text 23"/>
          <p:cNvSpPr/>
          <p:nvPr/>
        </p:nvSpPr>
        <p:spPr>
          <a:xfrm>
            <a:off x="5596128" y="190195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kern="0" spc="100" dirty="0">
                <a:solidFill>
                  <a:srgbClr val="22C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DA INTERAÇÃO</a:t>
            </a:r>
            <a:endParaRPr lang="en-US" sz="980" dirty="0"/>
          </a:p>
        </p:txBody>
      </p:sp>
      <p:sp>
        <p:nvSpPr>
          <p:cNvPr id="33" name="Shape 24"/>
          <p:cNvSpPr/>
          <p:nvPr/>
        </p:nvSpPr>
        <p:spPr>
          <a:xfrm>
            <a:off x="5596128" y="2258568"/>
            <a:ext cx="1444752" cy="877824"/>
          </a:xfrm>
          <a:prstGeom prst="roundRect">
            <a:avLst>
              <a:gd name="adj" fmla="val 16667"/>
            </a:avLst>
          </a:prstGeom>
          <a:solidFill>
            <a:srgbClr val="0A4677"/>
          </a:solidFill>
          <a:ln w="12700">
            <a:solidFill>
              <a:srgbClr val="2F71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200" y="2414016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669280" y="27432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 do usuário</a:t>
            </a:r>
            <a:endParaRPr lang="en-US" sz="96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23176" y="2560320"/>
            <a:ext cx="201168" cy="201168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7443216" y="2258568"/>
            <a:ext cx="1444752" cy="877824"/>
          </a:xfrm>
          <a:prstGeom prst="roundRect">
            <a:avLst>
              <a:gd name="adj" fmla="val 16667"/>
            </a:avLst>
          </a:prstGeom>
          <a:solidFill>
            <a:srgbClr val="0A4677"/>
          </a:solidFill>
          <a:ln w="12700">
            <a:solidFill>
              <a:srgbClr val="2F71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9288" y="2414016"/>
            <a:ext cx="274320" cy="27432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516368" y="27432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 JS</a:t>
            </a:r>
            <a:endParaRPr lang="en-US" sz="96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70264" y="2560320"/>
            <a:ext cx="201168" cy="201168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9290304" y="2258568"/>
            <a:ext cx="1444752" cy="877824"/>
          </a:xfrm>
          <a:prstGeom prst="roundRect">
            <a:avLst>
              <a:gd name="adj" fmla="val 16667"/>
            </a:avLst>
          </a:prstGeom>
          <a:solidFill>
            <a:srgbClr val="0A4677"/>
          </a:solidFill>
          <a:ln w="12700">
            <a:solidFill>
              <a:srgbClr val="2F71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66376" y="2414016"/>
            <a:ext cx="274320" cy="27432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9363456" y="27432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Atualiza DOM</a:t>
            </a:r>
            <a:endParaRPr lang="en-US" sz="960" dirty="0"/>
          </a:p>
        </p:txBody>
      </p:sp>
      <p:sp>
        <p:nvSpPr>
          <p:cNvPr id="44" name="Shape 30"/>
          <p:cNvSpPr/>
          <p:nvPr/>
        </p:nvSpPr>
        <p:spPr>
          <a:xfrm>
            <a:off x="5596128" y="3410712"/>
            <a:ext cx="5650992" cy="2212848"/>
          </a:xfrm>
          <a:prstGeom prst="roundRect">
            <a:avLst>
              <a:gd name="adj" fmla="val 6612"/>
            </a:avLst>
          </a:prstGeom>
          <a:solidFill>
            <a:srgbClr val="0B1726"/>
          </a:solidFill>
          <a:ln w="12700">
            <a:solidFill>
              <a:srgbClr val="2749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31"/>
          <p:cNvSpPr/>
          <p:nvPr/>
        </p:nvSpPr>
        <p:spPr>
          <a:xfrm>
            <a:off x="5870448" y="35935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2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030" dirty="0"/>
          </a:p>
        </p:txBody>
      </p:sp>
      <p:sp>
        <p:nvSpPr>
          <p:cNvPr id="46" name="Text 32"/>
          <p:cNvSpPr/>
          <p:nvPr/>
        </p:nvSpPr>
        <p:spPr>
          <a:xfrm>
            <a:off x="5852160" y="394106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6272784" y="394106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botao = document.querySelector("#huntPause");</a:t>
            </a:r>
            <a:endParaRPr lang="en-US" sz="940" dirty="0"/>
          </a:p>
        </p:txBody>
      </p:sp>
      <p:sp>
        <p:nvSpPr>
          <p:cNvPr id="48" name="Text 34"/>
          <p:cNvSpPr/>
          <p:nvPr/>
        </p:nvSpPr>
        <p:spPr>
          <a:xfrm>
            <a:off x="5852160" y="421538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9" name="Text 35"/>
          <p:cNvSpPr/>
          <p:nvPr/>
        </p:nvSpPr>
        <p:spPr>
          <a:xfrm>
            <a:off x="6272784" y="421538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F2D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botao?.addEventListener("click", () =&gt; {</a:t>
            </a:r>
            <a:endParaRPr lang="en-US" sz="940" dirty="0"/>
          </a:p>
        </p:txBody>
      </p:sp>
      <p:sp>
        <p:nvSpPr>
          <p:cNvPr id="50" name="Text 36"/>
          <p:cNvSpPr/>
          <p:nvPr/>
        </p:nvSpPr>
        <p:spPr>
          <a:xfrm>
            <a:off x="5852160" y="448970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51" name="Text 37"/>
          <p:cNvSpPr/>
          <p:nvPr/>
        </p:nvSpPr>
        <p:spPr>
          <a:xfrm>
            <a:off x="6272784" y="448970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huntPaused = !huntPaused;</a:t>
            </a:r>
            <a:endParaRPr lang="en-US" sz="940" dirty="0"/>
          </a:p>
        </p:txBody>
      </p:sp>
      <p:sp>
        <p:nvSpPr>
          <p:cNvPr id="52" name="Text 38"/>
          <p:cNvSpPr/>
          <p:nvPr/>
        </p:nvSpPr>
        <p:spPr>
          <a:xfrm>
            <a:off x="5852160" y="476402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6272784" y="476402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B9E7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botao.setAttribute("aria-pressed", huntPaused);</a:t>
            </a:r>
            <a:endParaRPr lang="en-US" sz="940" dirty="0"/>
          </a:p>
        </p:txBody>
      </p:sp>
      <p:sp>
        <p:nvSpPr>
          <p:cNvPr id="54" name="Text 40"/>
          <p:cNvSpPr/>
          <p:nvPr/>
        </p:nvSpPr>
        <p:spPr>
          <a:xfrm>
            <a:off x="5852160" y="503834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55" name="Text 41"/>
          <p:cNvSpPr/>
          <p:nvPr/>
        </p:nvSpPr>
        <p:spPr>
          <a:xfrm>
            <a:off x="6272784" y="503834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F2D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40" dirty="0"/>
          </a:p>
        </p:txBody>
      </p:sp>
      <p:sp>
        <p:nvSpPr>
          <p:cNvPr id="56" name="Text 42"/>
          <p:cNvSpPr/>
          <p:nvPr/>
        </p:nvSpPr>
        <p:spPr>
          <a:xfrm>
            <a:off x="5870448" y="5733288"/>
            <a:ext cx="5065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9C3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 + evento + acessibilidade no mesmo comportamento</a:t>
            </a:r>
            <a:endParaRPr lang="en-US" sz="1050" dirty="0"/>
          </a:p>
        </p:txBody>
      </p:sp>
      <p:sp>
        <p:nvSpPr>
          <p:cNvPr id="57" name="Shape 43"/>
          <p:cNvSpPr/>
          <p:nvPr/>
        </p:nvSpPr>
        <p:spPr>
          <a:xfrm>
            <a:off x="566928" y="6547104"/>
            <a:ext cx="11064240" cy="0"/>
          </a:xfrm>
          <a:prstGeom prst="line">
            <a:avLst/>
          </a:prstGeom>
          <a:noFill/>
          <a:ln w="12700">
            <a:solidFill>
              <a:srgbClr val="24577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44"/>
          <p:cNvSpPr/>
          <p:nvPr/>
        </p:nvSpPr>
        <p:spPr>
          <a:xfrm>
            <a:off x="566928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50" dirty="0">
                <a:solidFill>
                  <a:srgbClr val="8D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UC7 • DESENVOLVIMENTO WEB / FRONT-END</a:t>
            </a:r>
            <a:endParaRPr lang="en-US" sz="840" dirty="0"/>
          </a:p>
        </p:txBody>
      </p:sp>
      <p:sp>
        <p:nvSpPr>
          <p:cNvPr id="59" name="Text 45"/>
          <p:cNvSpPr/>
          <p:nvPr/>
        </p:nvSpPr>
        <p:spPr>
          <a:xfrm>
            <a:off x="8558784" y="65836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kern="0" spc="40" dirty="0">
                <a:solidFill>
                  <a:srgbClr val="8DB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APLICADO: OPERAÇÃO PENTE FINO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F7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ENCERRAMENTO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 UC7 consolidou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projeto final reúne os principais fundamentos de Front-End em uma entrega funcional.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10863072" y="38404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7C8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340864" cy="1353312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68096" y="2139696"/>
            <a:ext cx="438912" cy="438912"/>
          </a:xfrm>
          <a:prstGeom prst="ellipse">
            <a:avLst/>
          </a:prstGeom>
          <a:solidFill>
            <a:srgbClr val="F3F8FB"/>
          </a:solidFill>
          <a:ln w="12700">
            <a:solidFill>
              <a:srgbClr val="DFEA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968" y="225856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103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semântico e páginas organizadas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3374136" y="1938528"/>
            <a:ext cx="2340864" cy="1353312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575304" y="2139696"/>
            <a:ext cx="438912" cy="438912"/>
          </a:xfrm>
          <a:prstGeom prst="ellipse">
            <a:avLst/>
          </a:prstGeom>
          <a:solidFill>
            <a:srgbClr val="F3F8FB"/>
          </a:solidFill>
          <a:ln w="12700">
            <a:solidFill>
              <a:srgbClr val="DFEA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4176" y="225856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33088" y="2103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75304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CSS, componentes e identidade visual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6181344" y="1938528"/>
            <a:ext cx="2340864" cy="1353312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6382512" y="2139696"/>
            <a:ext cx="438912" cy="438912"/>
          </a:xfrm>
          <a:prstGeom prst="ellipse">
            <a:avLst/>
          </a:prstGeom>
          <a:solidFill>
            <a:srgbClr val="F3F8FB"/>
          </a:solidFill>
          <a:ln w="12700">
            <a:solidFill>
              <a:srgbClr val="DFEA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1384" y="2258568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40296" y="2103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Interação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82512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JavaScript, eventos e DOM</a:t>
            </a:r>
            <a:endParaRPr lang="en-US" sz="1060" dirty="0"/>
          </a:p>
        </p:txBody>
      </p:sp>
      <p:sp>
        <p:nvSpPr>
          <p:cNvPr id="21" name="Shape 16"/>
          <p:cNvSpPr/>
          <p:nvPr/>
        </p:nvSpPr>
        <p:spPr>
          <a:xfrm>
            <a:off x="8988552" y="1938528"/>
            <a:ext cx="2340864" cy="1353312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8E6F0"/>
            </a:solidFill>
            <a:prstDash val="solid"/>
          </a:ln>
          <a:effectLst>
            <a:outerShdw blurRad="25400" dist="50800" dir="2700000" algn="bl" rotWithShape="0">
              <a:srgbClr val="8AA4B7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9189720" y="2139696"/>
            <a:ext cx="438912" cy="438912"/>
          </a:xfrm>
          <a:prstGeom prst="ellipse">
            <a:avLst/>
          </a:prstGeom>
          <a:solidFill>
            <a:srgbClr val="F3F8FB"/>
          </a:solidFill>
          <a:ln w="12700">
            <a:solidFill>
              <a:srgbClr val="DFEA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08592" y="2258568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47504" y="21031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Experiência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189720" y="26517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526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responsividade e acessibilidade</a:t>
            </a:r>
            <a:endParaRPr lang="en-US" sz="1060" dirty="0"/>
          </a:p>
        </p:txBody>
      </p:sp>
      <p:sp>
        <p:nvSpPr>
          <p:cNvPr id="26" name="Shape 20"/>
          <p:cNvSpPr/>
          <p:nvPr/>
        </p:nvSpPr>
        <p:spPr>
          <a:xfrm>
            <a:off x="566928" y="3675888"/>
            <a:ext cx="10762488" cy="2057400"/>
          </a:xfrm>
          <a:prstGeom prst="roundRect">
            <a:avLst>
              <a:gd name="adj" fmla="val 9778"/>
            </a:avLst>
          </a:prstGeom>
          <a:solidFill>
            <a:srgbClr val="052D57"/>
          </a:solidFill>
          <a:ln w="12700">
            <a:solidFill>
              <a:srgbClr val="052D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7824" y="400507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08176" y="3941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DEMONSTRAÇÃO AO VIVO</a:t>
            </a:r>
            <a:endParaRPr lang="en-US" sz="2050" dirty="0"/>
          </a:p>
        </p:txBody>
      </p:sp>
      <p:sp>
        <p:nvSpPr>
          <p:cNvPr id="29" name="Text 22"/>
          <p:cNvSpPr/>
          <p:nvPr/>
        </p:nvSpPr>
        <p:spPr>
          <a:xfrm>
            <a:off x="1408176" y="4352544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C6D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o site e mostrar rapidamente: navegação → responsividade → jogo → acessibilidade.</a:t>
            </a:r>
            <a:endParaRPr lang="en-US" sz="1280" dirty="0"/>
          </a:p>
        </p:txBody>
      </p:sp>
      <p:sp>
        <p:nvSpPr>
          <p:cNvPr id="30" name="Shape 23"/>
          <p:cNvSpPr/>
          <p:nvPr/>
        </p:nvSpPr>
        <p:spPr>
          <a:xfrm>
            <a:off x="7461504" y="3968496"/>
            <a:ext cx="3319272" cy="512064"/>
          </a:xfrm>
          <a:prstGeom prst="roundRect">
            <a:avLst>
              <a:gd name="adj" fmla="val 28571"/>
            </a:avLst>
          </a:prstGeom>
          <a:solidFill>
            <a:srgbClr val="0A477A"/>
          </a:solidFill>
          <a:ln w="12700">
            <a:solidFill>
              <a:srgbClr val="2C6F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4"/>
          <p:cNvSpPr/>
          <p:nvPr/>
        </p:nvSpPr>
        <p:spPr>
          <a:xfrm>
            <a:off x="7598664" y="4124346"/>
            <a:ext cx="3044952" cy="31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b="1" kern="0" spc="60" dirty="0">
                <a:solidFill>
                  <a:srgbClr val="FFD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/ QR CODE DO SITE</a:t>
            </a:r>
          </a:p>
          <a:p>
            <a:pPr algn="ctr"/>
            <a:r>
              <a:rPr lang="pt-BR" dirty="0">
                <a:solidFill>
                  <a:schemeClr val="bg1"/>
                </a:solidFill>
                <a:hlinkClick r:id="rId8"/>
              </a:rPr>
              <a:t>desenvolvedorcb.com.br</a:t>
            </a:r>
            <a:endParaRPr lang="pt-BR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060" dirty="0"/>
          </a:p>
        </p:txBody>
      </p:sp>
      <p:sp>
        <p:nvSpPr>
          <p:cNvPr id="34" name="Shape 27"/>
          <p:cNvSpPr/>
          <p:nvPr/>
        </p:nvSpPr>
        <p:spPr>
          <a:xfrm>
            <a:off x="566928" y="6547104"/>
            <a:ext cx="11064240" cy="0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28"/>
          <p:cNvSpPr/>
          <p:nvPr/>
        </p:nvSpPr>
        <p:spPr>
          <a:xfrm>
            <a:off x="566928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50" dirty="0">
                <a:solidFill>
                  <a:srgbClr val="78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UC7 • DESENVOLVIMENTO WEB / FRONT-END</a:t>
            </a:r>
            <a:endParaRPr lang="en-US" sz="840" dirty="0"/>
          </a:p>
        </p:txBody>
      </p:sp>
      <p:sp>
        <p:nvSpPr>
          <p:cNvPr id="36" name="Text 29"/>
          <p:cNvSpPr/>
          <p:nvPr/>
        </p:nvSpPr>
        <p:spPr>
          <a:xfrm>
            <a:off x="8558784" y="658368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b="1" kern="0" spc="40" dirty="0">
                <a:solidFill>
                  <a:srgbClr val="78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APLICADO: OPERAÇÃO PENTE FINO</a:t>
            </a:r>
            <a:endParaRPr lang="en-US" sz="840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AEA8ECB0-D18C-A160-61FC-7C3E5921AE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9076" y="4572000"/>
            <a:ext cx="1024128" cy="1024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955</Words>
  <Application>Microsoft Office PowerPoint</Application>
  <PresentationFormat>Widescreen</PresentationFormat>
  <Paragraphs>153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SENAC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UC7 — Desenvolvimento Web e Front-End | Operação Pente Fino</dc:title>
  <dc:subject>Apresentação final UC7 — Desenvolvimento Web / Front-End</dc:subject>
  <dc:creator>OpenAI</dc:creator>
  <cp:lastModifiedBy>vboxuser</cp:lastModifiedBy>
  <cp:revision>3</cp:revision>
  <dcterms:created xsi:type="dcterms:W3CDTF">2026-09-22T20:07:31Z</dcterms:created>
  <dcterms:modified xsi:type="dcterms:W3CDTF">2026-09-23T01:36:24Z</dcterms:modified>
</cp:coreProperties>
</file>